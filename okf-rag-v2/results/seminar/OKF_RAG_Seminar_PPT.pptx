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444444"/>
                </a:solidFill>
                <a:latin typeface="Calibri"/>
              </a:rPr>
              <a:t>Presentation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1F3A5F"/>
                </a:solidFill>
                <a:latin typeface="Calibri"/>
              </a:rPr>
              <a:t>“OKF-RAG: Mitigating Hallucination in Retrieval-Augmented Generation using Curated Open Knowledge Format Bundles”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44E52"/>
                </a:solidFill>
                <a:latin typeface="Calibri"/>
              </a:rPr>
              <a:t>for Technical Seminar–(7CS7-40)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44"/>
                </a:solidFill>
                <a:latin typeface="Calibri"/>
              </a:rPr>
              <a:t>Submitted in partial fulfilment of the degree of Bachelor of Technology,
Rajasthan Technical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44444"/>
                </a:solidFill>
                <a:latin typeface="Calibri"/>
              </a:rPr>
              <a:t>ACADEMIC SESSION 2026-2027 (ODD SEMESTER)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3A5F"/>
                </a:solidFill>
                <a:latin typeface="Calibri"/>
              </a:rPr>
              <a:t>DEPARTMENT OF COMPUTER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44444"/>
                </a:solidFill>
                <a:latin typeface="Calibri"/>
              </a:rPr>
              <a:t>Poornima Institute of Engineering &amp; Technology, Jaipur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44444"/>
                </a:solidFill>
                <a:latin typeface="Calibri"/>
              </a:rPr>
              <a:t>Submitted to:</a:t>
            </a:r>
          </a:p>
          <a:p>
            <a:r>
              <a:rPr sz="1700" b="1">
                <a:solidFill>
                  <a:srgbClr val="1F3A5F"/>
                </a:solidFill>
                <a:latin typeface="Calibri"/>
              </a:rPr>
              <a:t>Madhav Sharma</a:t>
            </a:r>
          </a:p>
          <a:p>
            <a:r>
              <a:rPr sz="1700" b="0">
                <a:solidFill>
                  <a:srgbClr val="444444"/>
                </a:solidFill>
                <a:latin typeface="Calibri"/>
              </a:rPr>
              <a:t>Technical Seminar Coordinator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444444"/>
                </a:solidFill>
                <a:latin typeface="Calibri"/>
              </a:rPr>
              <a:t>Presented By:</a:t>
            </a:r>
          </a:p>
          <a:p>
            <a:pPr algn="r"/>
            <a:r>
              <a:rPr sz="1700" b="1">
                <a:solidFill>
                  <a:srgbClr val="1F3A5F"/>
                </a:solidFill>
                <a:latin typeface="Calibri"/>
              </a:rPr>
              <a:t>Daksh Mahera</a:t>
            </a:r>
          </a:p>
          <a:p>
            <a:pPr algn="r"/>
            <a:r>
              <a:rPr sz="1700" b="0">
                <a:solidFill>
                  <a:srgbClr val="444444"/>
                </a:solidFill>
                <a:latin typeface="Calibri"/>
              </a:rPr>
              <a:t>PIET23CS041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Objective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Literature Review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Problem Identification &amp; Definition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Proposed Methodology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Tools / Simulator Used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Result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Conclusion &amp; Future Work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1F3A5F"/>
                </a:solidFill>
                <a:latin typeface="Calibri"/>
              </a:rPr>
              <a:t>▪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F3A5F"/>
                </a:solidFill>
                <a:latin typeface="Calibri"/>
              </a:rPr>
              <a:t>▪  Test whether curating documents into an Open Knowledge Format (OKF) bundle — small, self-contained, cross-linked concept units — reduces hallucination in RAG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3A5F"/>
                </a:solidFill>
                <a:latin typeface="Calibri"/>
              </a:rPr>
              <a:t>▪  Compare against a conventional fixed-size chunk baseline under strict control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 Same 40-document Kubernetes corpus, same questions, same generator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 Same temperature (0.0), seed (42) and 1,800-token context budget</a:t>
            </a:r>
          </a:p>
          <a:p>
            <a:pPr lvl="1">
              <a:spcAft>
                <a:spcPts val="5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 Only the retrieval substrate differs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3A5F"/>
                </a:solidFill>
                <a:latin typeface="Calibri"/>
              </a:rPr>
              <a:t>▪  Reproduce the comparison in a second configuration: stronger generator, freshly extracted bundle, independent judge from a different model family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3A5F"/>
                </a:solidFill>
                <a:latin typeface="Calibri"/>
              </a:rPr>
              <a:t>▪  Audit link-graph precision directly, so any result has a mechanism behind it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F3A5F"/>
                </a:solidFill>
                <a:latin typeface="Calibri"/>
              </a:rPr>
              <a:t>▪  Report the outcome as measured, including a null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07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2121408"/>
                <a:gridCol w="2121408"/>
                <a:gridCol w="2121408"/>
                <a:gridCol w="2121408"/>
              </a:tblGrid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Gap left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[10]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Lewis et al. (2020) —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Dense retriever + seq2seq generator, trained jointly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Adds non-parametric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Retrieved unit is a plain passage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[7]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Jiang et al. (2023) — 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Re-retrieve mid-generation on low-confidence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The retrieval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Substrate untouched; extra cost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Asai et al. (2023) — Self-RAG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Reflection tokens decide when to retrieve and if output is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The model, via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Needs training; assumes passages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Bechard &amp; Ayala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RAG + schema-constrained 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Shape of the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Input evidence still unstructured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[15]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ReRAG / tuning-based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Tune retriever or reranker to the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Ranking within the substrate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Still ranks chunks; no relations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OKF-RAG (this 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Curated, cross-linked concept units + one-hop link 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The retrieved UNIT itself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Link precision limits the benefit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C44E52"/>
                </a:solidFill>
                <a:latin typeface="Calibri"/>
              </a:rPr>
              <a:t>Four of five improve grounding by changing something other than the retrieved unit. OKF-RAG occupies the remaining cell.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Problem Identification &amp;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C44E52"/>
                </a:solidFill>
                <a:latin typeface="Calibri"/>
              </a:rPr>
              <a:t>Problem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3A5F"/>
                </a:solidFill>
                <a:latin typeface="Calibri"/>
              </a:rPr>
              <a:t>▪  LLMs fabricate confident, well-formed but unsupported claims. RAG reduces this but does not eliminate it.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C44E52"/>
                </a:solidFill>
                <a:latin typeface="Calibri"/>
              </a:rPr>
              <a:t>Identification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3A5F"/>
                </a:solidFill>
                <a:latin typeface="Calibri"/>
              </a:rPr>
              <a:t>▪  Almost every deployed RAG system retrieves fixed-size chunks. That design was never chosen on merit — it is simply easy to implement.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–  A 512-token window starts mid-sentence and loses its section context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–  Two unrelated topics can share one chunk merely by page adjacency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–  No relationship between retrieved items is ever made explicit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C44E52"/>
                </a:solidFill>
                <a:latin typeface="Calibri"/>
              </a:rPr>
              <a:t>Definition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F3A5F"/>
                </a:solidFill>
                <a:latin typeface="Calibri"/>
              </a:rPr>
              <a:t>▪  Does replacing chunks with curated, self-contained, cross-linked concept units reduce hallucination, holding every other variable constant?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Proposed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C44E52"/>
                </a:solidFill>
                <a:latin typeface="Calibri"/>
              </a:rPr>
              <a:t>Arm A — Chunk baseline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512-token windows, 64-token overlap → embed → top-8 cosine → pack to 1,800 tokens (~3.1 chunks/question)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C44E52"/>
                </a:solidFill>
                <a:latin typeface="Calibri"/>
              </a:rPr>
              <a:t>Arm B — OKF-RAG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Bundle build: LLM extracts concepts (title, description, body, aliases); cross-linking is exact string matching — deterministic, no LLM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Retrieval: embed title+description → top-5 seeds → follow links one hop (max 4 expansions) → pack to the same 1,800 tokens (~8.3 units/question)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C44E52"/>
                </a:solidFill>
                <a:latin typeface="Calibri"/>
              </a:rPr>
              <a:t>Two configurations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v1 — Llama 3.1 8B, 371 concepts / 1,103 links, n=60, self-judged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v2 — Nemotron-3.5-Lightning-30B, 358 concepts / 1,031 links, n=65, judged by Qwen 2.5 7B (different family)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C44E52"/>
                </a:solidFill>
                <a:latin typeface="Calibri"/>
              </a:rPr>
              <a:t>Evaluation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EM, token F1, retrieval recall, citation validity, context tokens; LLM judge for screening, human labels reported; paired bootstrap + McNemar exact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Tools / Simulator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5744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Python 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Entire pipeline, analysis, figures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all-MiniLM-L6-v2 (384-d)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Shared by both arms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Exact cosine (NumPy)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No approximate index, no tunable knob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Inference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Ollama (OpenAI-compatible)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Serves generator and judge locally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Generator 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Llama 3.1 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Extraction, generation, judging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Generator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Nemotron-3.5-Lightning-30B-A3B (Q4_K_M)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Extraction and generation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Judge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Qwen 2.5 7B 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Independent judge, different family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Kaggle 2 × NVIDIA T4 (~30 GiB VRAM)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Configuration v2 runs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Data / 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pandas, paired bootstrap, McNemar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Scoring and significance</a:t>
                      </a:r>
                    </a:p>
                  </a:txBody>
                  <a:tcPr/>
                </a:tc>
              </a:tr>
              <a:tr h="35745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Config / VCS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YAML (extends), Git, SHA-256 provenance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A5F"/>
                          </a:solidFill>
                          <a:latin typeface="Calibri"/>
                        </a:rPr>
                        <a:t>Provable variable control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C44E52"/>
                </a:solidFill>
                <a:latin typeface="Calibri"/>
              </a:rPr>
              <a:t>Pure-software stack. Hosted APIs (Groq, Gemini, NVIDIA NIM) were abandoned after quota exhaustion mid-run.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54480"/>
          <a:ext cx="106070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291"/>
                <a:gridCol w="1515291"/>
                <a:gridCol w="1515291"/>
                <a:gridCol w="1515291"/>
                <a:gridCol w="1515291"/>
                <a:gridCol w="1515291"/>
                <a:gridCol w="1515294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Chunk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OKF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Bootstrap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McNemar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v1 — Llama 3.1 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0.0333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0.0833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+0.0500 (OKF worse)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0.3056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5/2, p = 0.4531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v2 — Nemotron 30B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0.0308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0.0154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−0.0154 (OKF better)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0.6042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A5F"/>
                          </a:solidFill>
                          <a:latin typeface="Calibri"/>
                        </a:rPr>
                        <a:t>1/2, p = 1.0000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1546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C44E52"/>
                </a:solidFill>
                <a:latin typeface="Calibri"/>
              </a:rPr>
              <a:t>Headline: no statistically significant hallucination difference in EITHER configuration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▪  The sign of the point estimate reverses between runs — behaviour consistent with noise around zero. Event counts are 1–5 per arm.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44E52"/>
                </a:solidFill>
                <a:latin typeface="Calibri"/>
              </a:rPr>
              <a:t>Efficiency — the one solid win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▪  Context tokens per question: 1,615 → 1,163 (−28.0%) in v1; 1,645 → 1,473 (−10.4%) in v2, at unchanged F1/EM and ~2.7× more addressable units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44E52"/>
                </a:solidFill>
                <a:latin typeface="Calibri"/>
              </a:rPr>
              <a:t>Mechanism — link precision (100-link hand-graded sample)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▪  Title-matched links 0.778 strict; alias-matched links only 0.315 strict — and alias links are ~78% of the graph. Link expansion was running on a mostly wrong graph.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44E52"/>
                </a:solidFill>
                <a:latin typeface="Calibri"/>
              </a:rPr>
              <a:t>Also measured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3A5F"/>
                </a:solidFill>
                <a:latin typeface="Calibri"/>
              </a:rPr>
              <a:t>▪  Both arms abstained on 10/10 unanswerable questions; 9 abstentions were reasoning misses on evidence already in context; judge-vs-judge Cohen’s κ = 0.518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>
                <a:solidFill>
                  <a:srgbClr val="C44E52"/>
                </a:solidFill>
                <a:latin typeface="Calibri"/>
              </a:rPr>
              <a:t>Conclusion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Curation did not reduce hallucination — in either configuration, across a change of generator scale, bundle provenance, judge family and question set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Three contributions survive the null: (i) a rigorously controlled negative result, (ii) a real 10–28% context-cost reduction at equal answer quality, (iii) a mechanistic explanation via link precision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The study was underpowered: at 1–5 hallucination events per arm, one relabelled row flips the sign. The honest claim is “no difference detected”, not “no difference exists”.</a:t>
            </a:r>
          </a:p>
          <a:p>
            <a:pPr>
              <a:spcAft>
                <a:spcPts val="500"/>
              </a:spcAft>
            </a:pPr>
            <a:r>
              <a:rPr sz="1350" b="1">
                <a:solidFill>
                  <a:srgbClr val="C44E52"/>
                </a:solidFill>
                <a:latin typeface="Calibri"/>
              </a:rPr>
              <a:t>Future Work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Filter ambiguous and generic aliases, rebuild, rerun — highest value, one rule + one rebuild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Carry the existing title-only bundle (387 high-precision links) through a full run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Author several hundred questions; prioritise verified multi-hop (only 18 exist today)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Concept-level gold annotations for like-for-like retrieval recall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Two or three independent judges, reporting agreement alongside the rate</a:t>
            </a:r>
          </a:p>
          <a:p>
            <a:pPr>
              <a:spcAft>
                <a:spcPts val="1000"/>
              </a:spcAft>
            </a:pPr>
            <a:r>
              <a:rPr sz="1650">
                <a:solidFill>
                  <a:srgbClr val="1F3A5F"/>
                </a:solidFill>
                <a:latin typeface="Calibri"/>
              </a:rPr>
              <a:t>▪  Target the reasoning bottleneck: evidence arrived, the model failed to join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3A5F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44444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Asai, A., Wu, Z., Wang, Y., Sil, A., Hajishirzi, H. (2024). Self-RAG: Learning to Retrieve, Generate and Critique through Self-Reflection. ICLR.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Bechard, P., Ayala, O. M. (2024). Reducing Hallucination in Structured Outputs via Retrieval-Augmented Generation. NAACL (Industry Track), 228–238.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Edge, D. et al. (2024). From Local to Global: A Graph RAG Approach to Query-Focused Summarization. arXiv:2404.16130.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Gao, Y. et al. (2023). Retrieval-Augmented Generation for Large Language Models: A Survey. arXiv:2312.10997.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Ji, Z. et al. (2023). Survey of Hallucination in Natural Language Generation. ACM Computing Surveys, 55(12), 1–38.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Jiang, Z. et al. (2023). Active Retrieval Augmented Generation. EMNLP, 7969–7992.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Lewis, P. et al. (2020). Retrieval-Augmented Generation for Knowledge-Intensive NLP Tasks. NeurIPS 33, 9459–9474.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Reimers, N., Gurevych, I. (2019). Sentence-BERT: Sentence Embeddings using Siamese BERT-Networks. EMNLP, 3982–3992.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Shuster, K. et al. (2021). Retrieval Augmentation Reduces Hallucination in Conversation. Findings of EMNLP, 3784–3803.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44E52"/>
                </a:solidFill>
                <a:latin typeface="Calibri"/>
              </a:rPr>
              <a:t>Kubernetes Authors. Kubernetes Documentation: Concepts. https://kubernetes.io/docs/concepts/ [accessed: TO BE FILLED]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